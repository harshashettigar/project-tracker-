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11952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-2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s" userId="b3c92414-d7b6-4a00-a442-a8fc5670345e" providerId="ADAL" clId="{97DF9E72-3E40-4CD6-8DC1-3A970D3A1FB1}"/>
    <pc:docChg chg="addSld modSld">
      <pc:chgData name="Harsha s" userId="b3c92414-d7b6-4a00-a442-a8fc5670345e" providerId="ADAL" clId="{97DF9E72-3E40-4CD6-8DC1-3A970D3A1FB1}" dt="2026-06-15T17:18:16.585" v="22" actId="207"/>
      <pc:docMkLst>
        <pc:docMk/>
      </pc:docMkLst>
      <pc:sldChg chg="modSp add mod">
        <pc:chgData name="Harsha s" userId="b3c92414-d7b6-4a00-a442-a8fc5670345e" providerId="ADAL" clId="{97DF9E72-3E40-4CD6-8DC1-3A970D3A1FB1}" dt="2026-06-15T17:18:16.585" v="22" actId="207"/>
        <pc:sldMkLst>
          <pc:docMk/>
          <pc:sldMk cId="3287788885" sldId="258"/>
        </pc:sldMkLst>
        <pc:spChg chg="mod">
          <ac:chgData name="Harsha s" userId="b3c92414-d7b6-4a00-a442-a8fc5670345e" providerId="ADAL" clId="{97DF9E72-3E40-4CD6-8DC1-3A970D3A1FB1}" dt="2026-06-15T17:18:11.544" v="21" actId="207"/>
          <ac:spMkLst>
            <pc:docMk/>
            <pc:sldMk cId="3287788885" sldId="258"/>
            <ac:spMk id="17" creationId="{6E342A5C-CB88-0E68-70CD-97E7C58B2824}"/>
          </ac:spMkLst>
        </pc:spChg>
        <pc:spChg chg="mod">
          <ac:chgData name="Harsha s" userId="b3c92414-d7b6-4a00-a442-a8fc5670345e" providerId="ADAL" clId="{97DF9E72-3E40-4CD6-8DC1-3A970D3A1FB1}" dt="2026-06-15T17:18:11.544" v="21" actId="207"/>
          <ac:spMkLst>
            <pc:docMk/>
            <pc:sldMk cId="3287788885" sldId="258"/>
            <ac:spMk id="18" creationId="{E8770660-7D27-E4B4-1CF5-8C7FD8CDFB0A}"/>
          </ac:spMkLst>
        </pc:spChg>
        <pc:spChg chg="mod">
          <ac:chgData name="Harsha s" userId="b3c92414-d7b6-4a00-a442-a8fc5670345e" providerId="ADAL" clId="{97DF9E72-3E40-4CD6-8DC1-3A970D3A1FB1}" dt="2026-06-15T17:18:11.544" v="21" actId="207"/>
          <ac:spMkLst>
            <pc:docMk/>
            <pc:sldMk cId="3287788885" sldId="258"/>
            <ac:spMk id="19" creationId="{42DA9914-833A-9A01-35F9-BCB6300842A1}"/>
          </ac:spMkLst>
        </pc:spChg>
        <pc:spChg chg="mod">
          <ac:chgData name="Harsha s" userId="b3c92414-d7b6-4a00-a442-a8fc5670345e" providerId="ADAL" clId="{97DF9E72-3E40-4CD6-8DC1-3A970D3A1FB1}" dt="2026-06-15T17:18:16.585" v="22" actId="207"/>
          <ac:spMkLst>
            <pc:docMk/>
            <pc:sldMk cId="3287788885" sldId="258"/>
            <ac:spMk id="24" creationId="{0404B923-B4E9-9208-E93A-A107225FFFAF}"/>
          </ac:spMkLst>
        </pc:spChg>
        <pc:spChg chg="mod">
          <ac:chgData name="Harsha s" userId="b3c92414-d7b6-4a00-a442-a8fc5670345e" providerId="ADAL" clId="{97DF9E72-3E40-4CD6-8DC1-3A970D3A1FB1}" dt="2026-06-15T17:18:16.585" v="22" actId="207"/>
          <ac:spMkLst>
            <pc:docMk/>
            <pc:sldMk cId="3287788885" sldId="258"/>
            <ac:spMk id="26" creationId="{A7EA4C13-9021-1EC7-2735-FAFFBCC1E3F6}"/>
          </ac:spMkLst>
        </pc:spChg>
        <pc:spChg chg="mod">
          <ac:chgData name="Harsha s" userId="b3c92414-d7b6-4a00-a442-a8fc5670345e" providerId="ADAL" clId="{97DF9E72-3E40-4CD6-8DC1-3A970D3A1FB1}" dt="2026-06-15T17:18:16.585" v="22" actId="207"/>
          <ac:spMkLst>
            <pc:docMk/>
            <pc:sldMk cId="3287788885" sldId="258"/>
            <ac:spMk id="28" creationId="{EC0EBE69-6011-58AC-1517-2948BC174096}"/>
          </ac:spMkLst>
        </pc:spChg>
        <pc:spChg chg="mod">
          <ac:chgData name="Harsha s" userId="b3c92414-d7b6-4a00-a442-a8fc5670345e" providerId="ADAL" clId="{97DF9E72-3E40-4CD6-8DC1-3A970D3A1FB1}" dt="2026-06-15T17:18:16.585" v="22" actId="207"/>
          <ac:spMkLst>
            <pc:docMk/>
            <pc:sldMk cId="3287788885" sldId="258"/>
            <ac:spMk id="30" creationId="{90CC4603-4D39-44BC-6F0F-CF496E8A3AB4}"/>
          </ac:spMkLst>
        </pc:spChg>
        <pc:spChg chg="mod">
          <ac:chgData name="Harsha s" userId="b3c92414-d7b6-4a00-a442-a8fc5670345e" providerId="ADAL" clId="{97DF9E72-3E40-4CD6-8DC1-3A970D3A1FB1}" dt="2026-06-15T17:17:42.937" v="20" actId="1038"/>
          <ac:spMkLst>
            <pc:docMk/>
            <pc:sldMk cId="3287788885" sldId="258"/>
            <ac:spMk id="49" creationId="{292A0F6C-F10A-18C8-3402-8B277AF1F1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56081"/>
            <a:ext cx="10363200" cy="41611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77719"/>
            <a:ext cx="9144000" cy="288570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3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79775"/>
            <a:ext cx="10515600" cy="497181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98630"/>
            <a:ext cx="10515600" cy="261456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8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81743"/>
            <a:ext cx="5181600" cy="7583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81743"/>
            <a:ext cx="5181600" cy="7583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7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6351"/>
            <a:ext cx="10515600" cy="231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29971"/>
            <a:ext cx="5157787" cy="14359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65905"/>
            <a:ext cx="5157787" cy="6421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29971"/>
            <a:ext cx="5183188" cy="14359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65905"/>
            <a:ext cx="5183188" cy="6421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3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9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0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6819"/>
            <a:ext cx="3932237" cy="27888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20911"/>
            <a:ext cx="6172200" cy="849387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85686"/>
            <a:ext cx="3932237" cy="664292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6819"/>
            <a:ext cx="3932237" cy="27888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20911"/>
            <a:ext cx="6172200" cy="849387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85686"/>
            <a:ext cx="3932237" cy="664292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0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0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6348"/>
            <a:ext cx="2628900" cy="1012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6348"/>
            <a:ext cx="7734300" cy="1012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9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6351"/>
            <a:ext cx="10515600" cy="231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81743"/>
            <a:ext cx="10515600" cy="7583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78003"/>
            <a:ext cx="2743200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B0338-8085-47B1-8397-82C05A7CEDC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78003"/>
            <a:ext cx="4114800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78003"/>
            <a:ext cx="2743200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58E51-F596-41AC-94CD-DE5B639A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1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44F7A6-CB17-AA89-624D-BCAB39321A0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01495-CAB9-729A-B4B4-65F06FFEF2B1}"/>
              </a:ext>
            </a:extLst>
          </p:cNvPr>
          <p:cNvSpPr txBox="1"/>
          <p:nvPr/>
        </p:nvSpPr>
        <p:spPr>
          <a:xfrm>
            <a:off x="66741" y="38100"/>
            <a:ext cx="3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Tracker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D905C-F6BB-0646-750A-7F61D231FEBA}"/>
              </a:ext>
            </a:extLst>
          </p:cNvPr>
          <p:cNvGrpSpPr/>
          <p:nvPr/>
        </p:nvGrpSpPr>
        <p:grpSpPr>
          <a:xfrm>
            <a:off x="11695269" y="50007"/>
            <a:ext cx="371476" cy="371476"/>
            <a:chOff x="11695269" y="50007"/>
            <a:chExt cx="371476" cy="371476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AF9EE757-021A-2217-479E-032B8BF529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59565" y="114303"/>
              <a:ext cx="242885" cy="242885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8BDD050-974F-9C45-4949-010C12D25C97}"/>
                </a:ext>
              </a:extLst>
            </p:cNvPr>
            <p:cNvSpPr/>
            <p:nvPr/>
          </p:nvSpPr>
          <p:spPr>
            <a:xfrm>
              <a:off x="11695269" y="50007"/>
              <a:ext cx="371476" cy="37147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CB1850-FA4C-ADDB-019B-67199FF1B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29414"/>
              </p:ext>
            </p:extLst>
          </p:nvPr>
        </p:nvGraphicFramePr>
        <p:xfrm>
          <a:off x="0" y="534573"/>
          <a:ext cx="1219200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96">
                  <a:extLst>
                    <a:ext uri="{9D8B030D-6E8A-4147-A177-3AD203B41FA5}">
                      <a16:colId xmlns:a16="http://schemas.microsoft.com/office/drawing/2014/main" val="3997266372"/>
                    </a:ext>
                  </a:extLst>
                </a:gridCol>
                <a:gridCol w="3423015">
                  <a:extLst>
                    <a:ext uri="{9D8B030D-6E8A-4147-A177-3AD203B41FA5}">
                      <a16:colId xmlns:a16="http://schemas.microsoft.com/office/drawing/2014/main" val="1667338425"/>
                    </a:ext>
                  </a:extLst>
                </a:gridCol>
                <a:gridCol w="1680395">
                  <a:extLst>
                    <a:ext uri="{9D8B030D-6E8A-4147-A177-3AD203B41FA5}">
                      <a16:colId xmlns:a16="http://schemas.microsoft.com/office/drawing/2014/main" val="997647417"/>
                    </a:ext>
                  </a:extLst>
                </a:gridCol>
                <a:gridCol w="1778281">
                  <a:extLst>
                    <a:ext uri="{9D8B030D-6E8A-4147-A177-3AD203B41FA5}">
                      <a16:colId xmlns:a16="http://schemas.microsoft.com/office/drawing/2014/main" val="3134790716"/>
                    </a:ext>
                  </a:extLst>
                </a:gridCol>
                <a:gridCol w="1680394">
                  <a:extLst>
                    <a:ext uri="{9D8B030D-6E8A-4147-A177-3AD203B41FA5}">
                      <a16:colId xmlns:a16="http://schemas.microsoft.com/office/drawing/2014/main" val="1492791094"/>
                    </a:ext>
                  </a:extLst>
                </a:gridCol>
                <a:gridCol w="3104820">
                  <a:extLst>
                    <a:ext uri="{9D8B030D-6E8A-4147-A177-3AD203B41FA5}">
                      <a16:colId xmlns:a16="http://schemas.microsoft.com/office/drawing/2014/main" val="152671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Sl</a:t>
                      </a: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Project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Start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Target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Responsible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7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Vanillin 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progress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2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MEHQ 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 progress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Amit Sharma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4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Emulsion Product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Nagabhushan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433710"/>
                  </a:ext>
                </a:extLst>
              </a:tr>
            </a:tbl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D36DB16F-FA36-E273-A0E5-2B4994581C20}"/>
              </a:ext>
            </a:extLst>
          </p:cNvPr>
          <p:cNvSpPr/>
          <p:nvPr/>
        </p:nvSpPr>
        <p:spPr>
          <a:xfrm>
            <a:off x="11116382" y="38100"/>
            <a:ext cx="371476" cy="37147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Graphic 26" descr="Add with solid fill">
            <a:extLst>
              <a:ext uri="{FF2B5EF4-FFF2-40B4-BE49-F238E27FC236}">
                <a16:creationId xmlns:a16="http://schemas.microsoft.com/office/drawing/2014/main" id="{1B5090AD-B9EB-5E2A-5F06-7300B307C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9843" y="91561"/>
            <a:ext cx="264554" cy="264554"/>
          </a:xfrm>
          <a:prstGeom prst="rect">
            <a:avLst/>
          </a:prstGeom>
        </p:spPr>
      </p:pic>
      <p:pic>
        <p:nvPicPr>
          <p:cNvPr id="31" name="Graphic 30" descr="Pencil with solid fill">
            <a:extLst>
              <a:ext uri="{FF2B5EF4-FFF2-40B4-BE49-F238E27FC236}">
                <a16:creationId xmlns:a16="http://schemas.microsoft.com/office/drawing/2014/main" id="{746A79D1-7711-F9FA-EEBF-53E73B51A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3795" y="1007491"/>
            <a:ext cx="230760" cy="230760"/>
          </a:xfrm>
          <a:prstGeom prst="rect">
            <a:avLst/>
          </a:prstGeom>
        </p:spPr>
      </p:pic>
      <p:pic>
        <p:nvPicPr>
          <p:cNvPr id="33" name="Graphic 32" descr="Eye with solid fill">
            <a:extLst>
              <a:ext uri="{FF2B5EF4-FFF2-40B4-BE49-F238E27FC236}">
                <a16:creationId xmlns:a16="http://schemas.microsoft.com/office/drawing/2014/main" id="{474AD92C-CE41-B777-851E-9AF7F15F4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5852" y="897886"/>
            <a:ext cx="429167" cy="42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CBDA0D9-7101-70C1-D534-A73ADBEBE739}"/>
              </a:ext>
            </a:extLst>
          </p:cNvPr>
          <p:cNvGrpSpPr/>
          <p:nvPr/>
        </p:nvGrpSpPr>
        <p:grpSpPr>
          <a:xfrm>
            <a:off x="0" y="-5556"/>
            <a:ext cx="12192000" cy="457200"/>
            <a:chOff x="0" y="2547144"/>
            <a:chExt cx="12192000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9C3778-49DC-E264-5FFE-A46354C4B7DA}"/>
                </a:ext>
              </a:extLst>
            </p:cNvPr>
            <p:cNvSpPr/>
            <p:nvPr/>
          </p:nvSpPr>
          <p:spPr>
            <a:xfrm>
              <a:off x="0" y="2547144"/>
              <a:ext cx="12192000" cy="457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2698F7-C46B-E01B-33AB-7927F206C094}"/>
                </a:ext>
              </a:extLst>
            </p:cNvPr>
            <p:cNvSpPr txBox="1"/>
            <p:nvPr/>
          </p:nvSpPr>
          <p:spPr>
            <a:xfrm>
              <a:off x="66741" y="2585244"/>
              <a:ext cx="337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Project Tracker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CCED5A-4DF3-FE57-36AB-9EB6B0619AFE}"/>
                </a:ext>
              </a:extLst>
            </p:cNvPr>
            <p:cNvGrpSpPr/>
            <p:nvPr/>
          </p:nvGrpSpPr>
          <p:grpSpPr>
            <a:xfrm>
              <a:off x="11695269" y="2597151"/>
              <a:ext cx="371476" cy="371476"/>
              <a:chOff x="11695269" y="50007"/>
              <a:chExt cx="371476" cy="371476"/>
            </a:xfrm>
          </p:grpSpPr>
          <p:pic>
            <p:nvPicPr>
              <p:cNvPr id="7" name="Graphic 6" descr="User with solid fill">
                <a:extLst>
                  <a:ext uri="{FF2B5EF4-FFF2-40B4-BE49-F238E27FC236}">
                    <a16:creationId xmlns:a16="http://schemas.microsoft.com/office/drawing/2014/main" id="{D6BC40A9-AF22-37C3-ABDC-CBDE874C0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759565" y="114303"/>
                <a:ext cx="242885" cy="242885"/>
              </a:xfrm>
              <a:prstGeom prst="rect">
                <a:avLst/>
              </a:prstGeom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9FF03F-BBE4-6827-5FF3-5FD248F89396}"/>
                  </a:ext>
                </a:extLst>
              </p:cNvPr>
              <p:cNvSpPr/>
              <p:nvPr/>
            </p:nvSpPr>
            <p:spPr>
              <a:xfrm>
                <a:off x="11695269" y="50007"/>
                <a:ext cx="371476" cy="37147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CEE2D96-5456-1CC8-0A6F-9F7E01829B3A}"/>
              </a:ext>
            </a:extLst>
          </p:cNvPr>
          <p:cNvSpPr/>
          <p:nvPr/>
        </p:nvSpPr>
        <p:spPr>
          <a:xfrm>
            <a:off x="10090150" y="28711"/>
            <a:ext cx="1365250" cy="3714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E0A521-1F10-3C89-5A6F-B3CA203FFEB1}"/>
              </a:ext>
            </a:extLst>
          </p:cNvPr>
          <p:cNvSpPr/>
          <p:nvPr/>
        </p:nvSpPr>
        <p:spPr>
          <a:xfrm>
            <a:off x="0" y="489745"/>
            <a:ext cx="12192000" cy="1277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03A1E3D-4BD7-FBF5-06EF-D47E2BAD9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021428"/>
              </p:ext>
            </p:extLst>
          </p:nvPr>
        </p:nvGraphicFramePr>
        <p:xfrm>
          <a:off x="1" y="518954"/>
          <a:ext cx="1219199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075">
                  <a:extLst>
                    <a:ext uri="{9D8B030D-6E8A-4147-A177-3AD203B41FA5}">
                      <a16:colId xmlns:a16="http://schemas.microsoft.com/office/drawing/2014/main" val="2221832847"/>
                    </a:ext>
                  </a:extLst>
                </a:gridCol>
                <a:gridCol w="1756024">
                  <a:extLst>
                    <a:ext uri="{9D8B030D-6E8A-4147-A177-3AD203B41FA5}">
                      <a16:colId xmlns:a16="http://schemas.microsoft.com/office/drawing/2014/main" val="2269466002"/>
                    </a:ext>
                  </a:extLst>
                </a:gridCol>
                <a:gridCol w="1858316">
                  <a:extLst>
                    <a:ext uri="{9D8B030D-6E8A-4147-A177-3AD203B41FA5}">
                      <a16:colId xmlns:a16="http://schemas.microsoft.com/office/drawing/2014/main" val="3246813899"/>
                    </a:ext>
                  </a:extLst>
                </a:gridCol>
                <a:gridCol w="1756023">
                  <a:extLst>
                    <a:ext uri="{9D8B030D-6E8A-4147-A177-3AD203B41FA5}">
                      <a16:colId xmlns:a16="http://schemas.microsoft.com/office/drawing/2014/main" val="1015224867"/>
                    </a:ext>
                  </a:extLst>
                </a:gridCol>
                <a:gridCol w="3244560">
                  <a:extLst>
                    <a:ext uri="{9D8B030D-6E8A-4147-A177-3AD203B41FA5}">
                      <a16:colId xmlns:a16="http://schemas.microsoft.com/office/drawing/2014/main" val="4261257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Vanillin 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progress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42223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3114A26-8F7C-1BF4-41D2-15A4702651DC}"/>
              </a:ext>
            </a:extLst>
          </p:cNvPr>
          <p:cNvSpPr txBox="1"/>
          <p:nvPr/>
        </p:nvSpPr>
        <p:spPr>
          <a:xfrm>
            <a:off x="268014" y="1030863"/>
            <a:ext cx="1079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 : Development of Vanillin in cost affective way. Do the lab development, scale up and commercialization….  </a:t>
            </a:r>
            <a:r>
              <a:rPr lang="en-US" dirty="0">
                <a:solidFill>
                  <a:srgbClr val="FF0000"/>
                </a:solidFill>
              </a:rPr>
              <a:t>More&gt;</a:t>
            </a:r>
            <a:r>
              <a:rPr lang="en-US" dirty="0"/>
              <a:t> 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A6E9E1-BEA8-6846-4843-A1F957B0D2A3}"/>
              </a:ext>
            </a:extLst>
          </p:cNvPr>
          <p:cNvGrpSpPr/>
          <p:nvPr/>
        </p:nvGrpSpPr>
        <p:grpSpPr>
          <a:xfrm>
            <a:off x="0" y="1767563"/>
            <a:ext cx="12192000" cy="646331"/>
            <a:chOff x="0" y="4281352"/>
            <a:chExt cx="12192000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7424E2-A701-7800-5B62-58C1629EF056}"/>
                </a:ext>
              </a:extLst>
            </p:cNvPr>
            <p:cNvSpPr/>
            <p:nvPr/>
          </p:nvSpPr>
          <p:spPr>
            <a:xfrm>
              <a:off x="0" y="4281352"/>
              <a:ext cx="12192000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DD6F77-9FE7-0E39-8F23-C8871F879576}"/>
                </a:ext>
              </a:extLst>
            </p:cNvPr>
            <p:cNvSpPr txBox="1"/>
            <p:nvPr/>
          </p:nvSpPr>
          <p:spPr>
            <a:xfrm>
              <a:off x="1" y="4367711"/>
              <a:ext cx="4792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Milestone 1 : Lab scale development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FE88E4-8C34-2E01-2993-8F5B25D7E3A3}"/>
                </a:ext>
              </a:extLst>
            </p:cNvPr>
            <p:cNvSpPr txBox="1"/>
            <p:nvPr/>
          </p:nvSpPr>
          <p:spPr>
            <a:xfrm>
              <a:off x="4603530" y="4418987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Target Date : 11 / 06 / 2025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CECF13-A3C8-7736-F5BB-D56844038F7A}"/>
                </a:ext>
              </a:extLst>
            </p:cNvPr>
            <p:cNvSpPr txBox="1"/>
            <p:nvPr/>
          </p:nvSpPr>
          <p:spPr>
            <a:xfrm>
              <a:off x="7725103" y="4446378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Status : In progress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A960564-5365-824F-DCFB-137925F7A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029927"/>
              </p:ext>
            </p:extLst>
          </p:nvPr>
        </p:nvGraphicFramePr>
        <p:xfrm>
          <a:off x="-2" y="2386866"/>
          <a:ext cx="1221105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Task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Start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Target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5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Raw Material procurement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US" sz="2000" dirty="0"/>
                        <a:t>Update : Raw material vendors finalized placed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A667845-90A1-1CC7-A9A2-CD48260B5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24840"/>
              </p:ext>
            </p:extLst>
          </p:nvPr>
        </p:nvGraphicFramePr>
        <p:xfrm>
          <a:off x="-2" y="3612416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two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248384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2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BF86ADF-70AA-AAD6-FF47-7EF3D58C3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724"/>
              </p:ext>
            </p:extLst>
          </p:nvPr>
        </p:nvGraphicFramePr>
        <p:xfrm>
          <a:off x="19050" y="4467348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three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3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3FF50821-993F-278C-0973-FB6E7EE485CA}"/>
              </a:ext>
            </a:extLst>
          </p:cNvPr>
          <p:cNvGrpSpPr/>
          <p:nvPr/>
        </p:nvGrpSpPr>
        <p:grpSpPr>
          <a:xfrm>
            <a:off x="19050" y="5397505"/>
            <a:ext cx="12192000" cy="646331"/>
            <a:chOff x="152400" y="1886607"/>
            <a:chExt cx="12192000" cy="64633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8C1428-0E50-6667-1E11-82A378AC2BBA}"/>
                </a:ext>
              </a:extLst>
            </p:cNvPr>
            <p:cNvSpPr/>
            <p:nvPr/>
          </p:nvSpPr>
          <p:spPr>
            <a:xfrm>
              <a:off x="152400" y="1886607"/>
              <a:ext cx="12192000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1AB027-72F7-3352-B932-4D2176150A05}"/>
                </a:ext>
              </a:extLst>
            </p:cNvPr>
            <p:cNvSpPr txBox="1"/>
            <p:nvPr/>
          </p:nvSpPr>
          <p:spPr>
            <a:xfrm>
              <a:off x="152400" y="1972967"/>
              <a:ext cx="4792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Milestone 2 : Milestone 2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5C6190-D091-00B4-5B86-5A55CDA5F2CA}"/>
                </a:ext>
              </a:extLst>
            </p:cNvPr>
            <p:cNvSpPr txBox="1"/>
            <p:nvPr/>
          </p:nvSpPr>
          <p:spPr>
            <a:xfrm>
              <a:off x="4755930" y="2024243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Target Date : 11 / 06 / 2025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1B4F50-199D-7982-A7FA-2ACA2097BECA}"/>
                </a:ext>
              </a:extLst>
            </p:cNvPr>
            <p:cNvSpPr txBox="1"/>
            <p:nvPr/>
          </p:nvSpPr>
          <p:spPr>
            <a:xfrm>
              <a:off x="7877503" y="2051634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Status : In progress</a:t>
              </a: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050370F-6D5F-497F-E77A-C893934F1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99895"/>
              </p:ext>
            </p:extLst>
          </p:nvPr>
        </p:nvGraphicFramePr>
        <p:xfrm>
          <a:off x="-19051" y="6018224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11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C934C702-CA37-E5AA-F73C-41C0959854BB}"/>
              </a:ext>
            </a:extLst>
          </p:cNvPr>
          <p:cNvSpPr/>
          <p:nvPr/>
        </p:nvSpPr>
        <p:spPr>
          <a:xfrm>
            <a:off x="0" y="11273412"/>
            <a:ext cx="1223010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7A7AF-A155-6D0F-69AF-EAEAE2033125}"/>
              </a:ext>
            </a:extLst>
          </p:cNvPr>
          <p:cNvSpPr txBox="1"/>
          <p:nvPr/>
        </p:nvSpPr>
        <p:spPr>
          <a:xfrm>
            <a:off x="66741" y="11273412"/>
            <a:ext cx="166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 Projects :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00D3EA-D63B-5E26-7BE6-FBF00961AB4C}"/>
              </a:ext>
            </a:extLst>
          </p:cNvPr>
          <p:cNvSpPr txBox="1"/>
          <p:nvPr/>
        </p:nvSpPr>
        <p:spPr>
          <a:xfrm>
            <a:off x="1616108" y="11352668"/>
            <a:ext cx="346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Vanillin Market Research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DF2D72-F5F3-ACA7-20ED-2A2E2567DAFD}"/>
              </a:ext>
            </a:extLst>
          </p:cNvPr>
          <p:cNvSpPr txBox="1"/>
          <p:nvPr/>
        </p:nvSpPr>
        <p:spPr>
          <a:xfrm>
            <a:off x="4716171" y="11411911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Vanillin Manufacturing facility search </a:t>
            </a:r>
          </a:p>
        </p:txBody>
      </p:sp>
      <p:pic>
        <p:nvPicPr>
          <p:cNvPr id="41" name="Graphic 40" descr="Pencil with solid fill">
            <a:extLst>
              <a:ext uri="{FF2B5EF4-FFF2-40B4-BE49-F238E27FC236}">
                <a16:creationId xmlns:a16="http://schemas.microsoft.com/office/drawing/2014/main" id="{D11FF640-96E1-97DD-0A83-F3D9FD599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1225" y="54273"/>
            <a:ext cx="295895" cy="295895"/>
          </a:xfrm>
          <a:prstGeom prst="rect">
            <a:avLst/>
          </a:prstGeom>
        </p:spPr>
      </p:pic>
      <p:pic>
        <p:nvPicPr>
          <p:cNvPr id="43" name="Graphic 42" descr="Eye with solid fill">
            <a:extLst>
              <a:ext uri="{FF2B5EF4-FFF2-40B4-BE49-F238E27FC236}">
                <a16:creationId xmlns:a16="http://schemas.microsoft.com/office/drawing/2014/main" id="{44925852-6510-297A-93B9-628A8402C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54126" y="-53703"/>
            <a:ext cx="524397" cy="524397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92D602B-AC88-F5BE-3D89-0F06AD488D71}"/>
              </a:ext>
            </a:extLst>
          </p:cNvPr>
          <p:cNvSpPr/>
          <p:nvPr/>
        </p:nvSpPr>
        <p:spPr>
          <a:xfrm>
            <a:off x="10113960" y="47130"/>
            <a:ext cx="680244" cy="33373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9A6762-6E8D-7A67-572F-CEF88E0F667F}"/>
              </a:ext>
            </a:extLst>
          </p:cNvPr>
          <p:cNvSpPr/>
          <p:nvPr/>
        </p:nvSpPr>
        <p:spPr>
          <a:xfrm>
            <a:off x="-658" y="10539311"/>
            <a:ext cx="1219200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41023-0932-BCA2-3838-6213212290AA}"/>
              </a:ext>
            </a:extLst>
          </p:cNvPr>
          <p:cNvSpPr txBox="1"/>
          <p:nvPr/>
        </p:nvSpPr>
        <p:spPr>
          <a:xfrm>
            <a:off x="9591" y="10587612"/>
            <a:ext cx="166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Additional File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120943-E02F-1B5A-1E61-17890A4BCD00}"/>
              </a:ext>
            </a:extLst>
          </p:cNvPr>
          <p:cNvSpPr txBox="1"/>
          <p:nvPr/>
        </p:nvSpPr>
        <p:spPr>
          <a:xfrm>
            <a:off x="1670050" y="10706337"/>
            <a:ext cx="346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Vendor list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B97C9D-AE8B-EC2B-25A0-F4943D124C93}"/>
              </a:ext>
            </a:extLst>
          </p:cNvPr>
          <p:cNvSpPr txBox="1"/>
          <p:nvPr/>
        </p:nvSpPr>
        <p:spPr>
          <a:xfrm>
            <a:off x="3118882" y="10686631"/>
            <a:ext cx="159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Approval list </a:t>
            </a:r>
          </a:p>
        </p:txBody>
      </p:sp>
      <p:pic>
        <p:nvPicPr>
          <p:cNvPr id="55" name="Graphic 54" descr="Paperclip with solid fill">
            <a:extLst>
              <a:ext uri="{FF2B5EF4-FFF2-40B4-BE49-F238E27FC236}">
                <a16:creationId xmlns:a16="http://schemas.microsoft.com/office/drawing/2014/main" id="{92563BD6-A06B-A412-97FF-856AEC954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9423" y="10648674"/>
            <a:ext cx="420008" cy="42000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7021BE9-188F-9C38-DA5A-AB9E0ABE319E}"/>
              </a:ext>
            </a:extLst>
          </p:cNvPr>
          <p:cNvSpPr txBox="1"/>
          <p:nvPr/>
        </p:nvSpPr>
        <p:spPr>
          <a:xfrm>
            <a:off x="7219431" y="10675529"/>
            <a:ext cx="159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Spec sheet </a:t>
            </a:r>
          </a:p>
        </p:txBody>
      </p:sp>
    </p:spTree>
    <p:extLst>
      <p:ext uri="{BB962C8B-B14F-4D97-AF65-F5344CB8AC3E}">
        <p14:creationId xmlns:p14="http://schemas.microsoft.com/office/powerpoint/2010/main" val="394279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E763A-B361-CEA4-C0E1-1A092F92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043013B3-B151-7D01-91A8-D95057C83FBE}"/>
              </a:ext>
            </a:extLst>
          </p:cNvPr>
          <p:cNvGrpSpPr/>
          <p:nvPr/>
        </p:nvGrpSpPr>
        <p:grpSpPr>
          <a:xfrm>
            <a:off x="0" y="-5556"/>
            <a:ext cx="12192000" cy="457200"/>
            <a:chOff x="0" y="2547144"/>
            <a:chExt cx="12192000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DB0BF9-8926-39B5-3A76-D7413C7A07CA}"/>
                </a:ext>
              </a:extLst>
            </p:cNvPr>
            <p:cNvSpPr/>
            <p:nvPr/>
          </p:nvSpPr>
          <p:spPr>
            <a:xfrm>
              <a:off x="0" y="2547144"/>
              <a:ext cx="12192000" cy="457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F93D6E-5A55-5E08-EC24-8E6A5733F1A8}"/>
                </a:ext>
              </a:extLst>
            </p:cNvPr>
            <p:cNvSpPr txBox="1"/>
            <p:nvPr/>
          </p:nvSpPr>
          <p:spPr>
            <a:xfrm>
              <a:off x="66741" y="2585244"/>
              <a:ext cx="337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Project Tracker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2FC6CE5-99F1-ABEB-70C9-51A3AE22E6B5}"/>
                </a:ext>
              </a:extLst>
            </p:cNvPr>
            <p:cNvGrpSpPr/>
            <p:nvPr/>
          </p:nvGrpSpPr>
          <p:grpSpPr>
            <a:xfrm>
              <a:off x="11695269" y="2597151"/>
              <a:ext cx="371476" cy="371476"/>
              <a:chOff x="11695269" y="50007"/>
              <a:chExt cx="371476" cy="371476"/>
            </a:xfrm>
          </p:grpSpPr>
          <p:pic>
            <p:nvPicPr>
              <p:cNvPr id="7" name="Graphic 6" descr="User with solid fill">
                <a:extLst>
                  <a:ext uri="{FF2B5EF4-FFF2-40B4-BE49-F238E27FC236}">
                    <a16:creationId xmlns:a16="http://schemas.microsoft.com/office/drawing/2014/main" id="{3057C83A-7BB5-A689-1D93-98822D1B7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759565" y="114303"/>
                <a:ext cx="242885" cy="242885"/>
              </a:xfrm>
              <a:prstGeom prst="rect">
                <a:avLst/>
              </a:prstGeom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A8D374C-BB5C-6DBF-1244-ABD0782C2893}"/>
                  </a:ext>
                </a:extLst>
              </p:cNvPr>
              <p:cNvSpPr/>
              <p:nvPr/>
            </p:nvSpPr>
            <p:spPr>
              <a:xfrm>
                <a:off x="11695269" y="50007"/>
                <a:ext cx="371476" cy="37147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6941F4-E3A7-46E9-4100-73DDE503D093}"/>
              </a:ext>
            </a:extLst>
          </p:cNvPr>
          <p:cNvSpPr/>
          <p:nvPr/>
        </p:nvSpPr>
        <p:spPr>
          <a:xfrm>
            <a:off x="10090150" y="28711"/>
            <a:ext cx="1365250" cy="3714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2774BE-4532-3078-D7EE-55F80C774F90}"/>
              </a:ext>
            </a:extLst>
          </p:cNvPr>
          <p:cNvSpPr/>
          <p:nvPr/>
        </p:nvSpPr>
        <p:spPr>
          <a:xfrm>
            <a:off x="0" y="489745"/>
            <a:ext cx="12192000" cy="1277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117781-988A-7DC6-E3A5-51AA06B40D82}"/>
              </a:ext>
            </a:extLst>
          </p:cNvPr>
          <p:cNvGraphicFramePr>
            <a:graphicFrameLocks noGrp="1"/>
          </p:cNvGraphicFramePr>
          <p:nvPr/>
        </p:nvGraphicFramePr>
        <p:xfrm>
          <a:off x="1" y="518954"/>
          <a:ext cx="1219199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075">
                  <a:extLst>
                    <a:ext uri="{9D8B030D-6E8A-4147-A177-3AD203B41FA5}">
                      <a16:colId xmlns:a16="http://schemas.microsoft.com/office/drawing/2014/main" val="2221832847"/>
                    </a:ext>
                  </a:extLst>
                </a:gridCol>
                <a:gridCol w="1756024">
                  <a:extLst>
                    <a:ext uri="{9D8B030D-6E8A-4147-A177-3AD203B41FA5}">
                      <a16:colId xmlns:a16="http://schemas.microsoft.com/office/drawing/2014/main" val="2269466002"/>
                    </a:ext>
                  </a:extLst>
                </a:gridCol>
                <a:gridCol w="1858316">
                  <a:extLst>
                    <a:ext uri="{9D8B030D-6E8A-4147-A177-3AD203B41FA5}">
                      <a16:colId xmlns:a16="http://schemas.microsoft.com/office/drawing/2014/main" val="3246813899"/>
                    </a:ext>
                  </a:extLst>
                </a:gridCol>
                <a:gridCol w="1756023">
                  <a:extLst>
                    <a:ext uri="{9D8B030D-6E8A-4147-A177-3AD203B41FA5}">
                      <a16:colId xmlns:a16="http://schemas.microsoft.com/office/drawing/2014/main" val="1015224867"/>
                    </a:ext>
                  </a:extLst>
                </a:gridCol>
                <a:gridCol w="3244560">
                  <a:extLst>
                    <a:ext uri="{9D8B030D-6E8A-4147-A177-3AD203B41FA5}">
                      <a16:colId xmlns:a16="http://schemas.microsoft.com/office/drawing/2014/main" val="4261257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Vanillin 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01/07/2025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progress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42223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CED3B34-9093-D6F7-8A65-8F182AF5688C}"/>
              </a:ext>
            </a:extLst>
          </p:cNvPr>
          <p:cNvSpPr txBox="1"/>
          <p:nvPr/>
        </p:nvSpPr>
        <p:spPr>
          <a:xfrm>
            <a:off x="268014" y="1030863"/>
            <a:ext cx="1079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 : Development of Vanillin in cost affective way. Do the lab development, scale up and commercialization….  </a:t>
            </a:r>
            <a:r>
              <a:rPr lang="en-US" dirty="0">
                <a:solidFill>
                  <a:srgbClr val="FF0000"/>
                </a:solidFill>
              </a:rPr>
              <a:t>More&gt;</a:t>
            </a:r>
            <a:r>
              <a:rPr lang="en-US" dirty="0"/>
              <a:t> 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67DCE48-2E5F-B73B-CD02-21094FC8296E}"/>
              </a:ext>
            </a:extLst>
          </p:cNvPr>
          <p:cNvGrpSpPr/>
          <p:nvPr/>
        </p:nvGrpSpPr>
        <p:grpSpPr>
          <a:xfrm>
            <a:off x="0" y="1767563"/>
            <a:ext cx="12192000" cy="646331"/>
            <a:chOff x="0" y="4281352"/>
            <a:chExt cx="12192000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BBFC58-E489-ECD6-FE00-BBBC8ECD3AA4}"/>
                </a:ext>
              </a:extLst>
            </p:cNvPr>
            <p:cNvSpPr/>
            <p:nvPr/>
          </p:nvSpPr>
          <p:spPr>
            <a:xfrm>
              <a:off x="0" y="4281352"/>
              <a:ext cx="12192000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342A5C-CB88-0E68-70CD-97E7C58B2824}"/>
                </a:ext>
              </a:extLst>
            </p:cNvPr>
            <p:cNvSpPr txBox="1"/>
            <p:nvPr/>
          </p:nvSpPr>
          <p:spPr>
            <a:xfrm>
              <a:off x="1" y="4367711"/>
              <a:ext cx="4792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Milestone 1 : Lab scale development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770660-7D27-E4B4-1CF5-8C7FD8CDFB0A}"/>
                </a:ext>
              </a:extLst>
            </p:cNvPr>
            <p:cNvSpPr txBox="1"/>
            <p:nvPr/>
          </p:nvSpPr>
          <p:spPr>
            <a:xfrm>
              <a:off x="4603530" y="4418987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Target Date : 11 / 06 / 2025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DA9914-833A-9A01-35F9-BCB6300842A1}"/>
                </a:ext>
              </a:extLst>
            </p:cNvPr>
            <p:cNvSpPr txBox="1"/>
            <p:nvPr/>
          </p:nvSpPr>
          <p:spPr>
            <a:xfrm>
              <a:off x="7725103" y="4446378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Status : In progress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73E437-6130-DD1B-0EA0-839AA1EEF58E}"/>
              </a:ext>
            </a:extLst>
          </p:cNvPr>
          <p:cNvGraphicFramePr>
            <a:graphicFrameLocks noGrp="1"/>
          </p:cNvGraphicFramePr>
          <p:nvPr/>
        </p:nvGraphicFramePr>
        <p:xfrm>
          <a:off x="-2" y="2386866"/>
          <a:ext cx="1221105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Task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Start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Target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5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Raw Material procurement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US" sz="2000" dirty="0"/>
                        <a:t>Update : Raw material vendors finalized placed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EE84E1-B0A6-DA89-2210-99C29FADCC3B}"/>
              </a:ext>
            </a:extLst>
          </p:cNvPr>
          <p:cNvGraphicFramePr>
            <a:graphicFrameLocks noGrp="1"/>
          </p:cNvGraphicFramePr>
          <p:nvPr/>
        </p:nvGraphicFramePr>
        <p:xfrm>
          <a:off x="-2" y="3612416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two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248384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2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746CFC6-41F8-30C8-8BA5-CEDD36245D4C}"/>
              </a:ext>
            </a:extLst>
          </p:cNvPr>
          <p:cNvGraphicFramePr>
            <a:graphicFrameLocks noGrp="1"/>
          </p:cNvGraphicFramePr>
          <p:nvPr/>
        </p:nvGraphicFramePr>
        <p:xfrm>
          <a:off x="19050" y="4467348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three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3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15A89374-54B5-7332-A8EF-121047D1E9CE}"/>
              </a:ext>
            </a:extLst>
          </p:cNvPr>
          <p:cNvGrpSpPr/>
          <p:nvPr/>
        </p:nvGrpSpPr>
        <p:grpSpPr>
          <a:xfrm>
            <a:off x="19050" y="5397505"/>
            <a:ext cx="12192000" cy="646331"/>
            <a:chOff x="152400" y="1886607"/>
            <a:chExt cx="12192000" cy="64633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04B923-B4E9-9208-E93A-A107225FFFAF}"/>
                </a:ext>
              </a:extLst>
            </p:cNvPr>
            <p:cNvSpPr/>
            <p:nvPr/>
          </p:nvSpPr>
          <p:spPr>
            <a:xfrm>
              <a:off x="152400" y="1886607"/>
              <a:ext cx="12192000" cy="64633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EA4C13-9021-1EC7-2735-FAFFBCC1E3F6}"/>
                </a:ext>
              </a:extLst>
            </p:cNvPr>
            <p:cNvSpPr txBox="1"/>
            <p:nvPr/>
          </p:nvSpPr>
          <p:spPr>
            <a:xfrm>
              <a:off x="152400" y="1972967"/>
              <a:ext cx="4792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Milestone 2 : Milestone 2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0EBE69-6011-58AC-1517-2948BC174096}"/>
                </a:ext>
              </a:extLst>
            </p:cNvPr>
            <p:cNvSpPr txBox="1"/>
            <p:nvPr/>
          </p:nvSpPr>
          <p:spPr>
            <a:xfrm>
              <a:off x="4755930" y="2024243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Target Date : 11 / 06 / 2025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CC4603-4D39-44BC-6F0F-CF496E8A3AB4}"/>
                </a:ext>
              </a:extLst>
            </p:cNvPr>
            <p:cNvSpPr txBox="1"/>
            <p:nvPr/>
          </p:nvSpPr>
          <p:spPr>
            <a:xfrm>
              <a:off x="7877503" y="2051634"/>
              <a:ext cx="3342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Status : In progress</a:t>
              </a: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E5CA17E-7058-F8EB-6BF8-4FD1272C9ECE}"/>
              </a:ext>
            </a:extLst>
          </p:cNvPr>
          <p:cNvGraphicFramePr>
            <a:graphicFrameLocks noGrp="1"/>
          </p:cNvGraphicFramePr>
          <p:nvPr/>
        </p:nvGraphicFramePr>
        <p:xfrm>
          <a:off x="-19051" y="6018224"/>
          <a:ext cx="12211051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81826">
                  <a:extLst>
                    <a:ext uri="{9D8B030D-6E8A-4147-A177-3AD203B41FA5}">
                      <a16:colId xmlns:a16="http://schemas.microsoft.com/office/drawing/2014/main" val="751084474"/>
                    </a:ext>
                  </a:extLst>
                </a:gridCol>
                <a:gridCol w="2396541">
                  <a:extLst>
                    <a:ext uri="{9D8B030D-6E8A-4147-A177-3AD203B41FA5}">
                      <a16:colId xmlns:a16="http://schemas.microsoft.com/office/drawing/2014/main" val="1253125487"/>
                    </a:ext>
                  </a:extLst>
                </a:gridCol>
                <a:gridCol w="2536144">
                  <a:extLst>
                    <a:ext uri="{9D8B030D-6E8A-4147-A177-3AD203B41FA5}">
                      <a16:colId xmlns:a16="http://schemas.microsoft.com/office/drawing/2014/main" val="2177515940"/>
                    </a:ext>
                  </a:extLst>
                </a:gridCol>
                <a:gridCol w="2396540">
                  <a:extLst>
                    <a:ext uri="{9D8B030D-6E8A-4147-A177-3AD203B41FA5}">
                      <a16:colId xmlns:a16="http://schemas.microsoft.com/office/drawing/2014/main" val="307795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10/04/2025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2213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: Task 11 updates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42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5E0D9F8C-C545-C117-CFE1-4F640904F4F4}"/>
              </a:ext>
            </a:extLst>
          </p:cNvPr>
          <p:cNvSpPr/>
          <p:nvPr/>
        </p:nvSpPr>
        <p:spPr>
          <a:xfrm>
            <a:off x="0" y="11273412"/>
            <a:ext cx="1223010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D9E32D-50DF-9614-B179-8307D96EACCD}"/>
              </a:ext>
            </a:extLst>
          </p:cNvPr>
          <p:cNvSpPr txBox="1"/>
          <p:nvPr/>
        </p:nvSpPr>
        <p:spPr>
          <a:xfrm>
            <a:off x="66741" y="11273412"/>
            <a:ext cx="166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 Projects :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2293F7-BA16-C937-192F-55ACBBE9A559}"/>
              </a:ext>
            </a:extLst>
          </p:cNvPr>
          <p:cNvSpPr txBox="1"/>
          <p:nvPr/>
        </p:nvSpPr>
        <p:spPr>
          <a:xfrm>
            <a:off x="1616108" y="11352668"/>
            <a:ext cx="346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Vanillin Market Research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119970-F2EC-FBC7-A957-647D163F5923}"/>
              </a:ext>
            </a:extLst>
          </p:cNvPr>
          <p:cNvSpPr txBox="1"/>
          <p:nvPr/>
        </p:nvSpPr>
        <p:spPr>
          <a:xfrm>
            <a:off x="4716171" y="11411911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Vanillin Manufacturing facility search </a:t>
            </a:r>
          </a:p>
        </p:txBody>
      </p:sp>
      <p:pic>
        <p:nvPicPr>
          <p:cNvPr id="41" name="Graphic 40" descr="Pencil with solid fill">
            <a:extLst>
              <a:ext uri="{FF2B5EF4-FFF2-40B4-BE49-F238E27FC236}">
                <a16:creationId xmlns:a16="http://schemas.microsoft.com/office/drawing/2014/main" id="{82683CE0-87CF-7377-BF56-FB75EF82E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1225" y="54273"/>
            <a:ext cx="295895" cy="295895"/>
          </a:xfrm>
          <a:prstGeom prst="rect">
            <a:avLst/>
          </a:prstGeom>
        </p:spPr>
      </p:pic>
      <p:pic>
        <p:nvPicPr>
          <p:cNvPr id="43" name="Graphic 42" descr="Eye with solid fill">
            <a:extLst>
              <a:ext uri="{FF2B5EF4-FFF2-40B4-BE49-F238E27FC236}">
                <a16:creationId xmlns:a16="http://schemas.microsoft.com/office/drawing/2014/main" id="{0CBF82B1-EFA5-E32A-5C03-331DDC42B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54126" y="-53703"/>
            <a:ext cx="524397" cy="524397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92A0F6C-F10A-18C8-3402-8B277AF1F1D6}"/>
              </a:ext>
            </a:extLst>
          </p:cNvPr>
          <p:cNvSpPr/>
          <p:nvPr/>
        </p:nvSpPr>
        <p:spPr>
          <a:xfrm>
            <a:off x="10723558" y="47130"/>
            <a:ext cx="680244" cy="33373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EFAF9E-6F38-813B-3425-A366F65D3251}"/>
              </a:ext>
            </a:extLst>
          </p:cNvPr>
          <p:cNvSpPr/>
          <p:nvPr/>
        </p:nvSpPr>
        <p:spPr>
          <a:xfrm>
            <a:off x="-658" y="10539311"/>
            <a:ext cx="1219200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D61592-8647-2EB2-D294-C04E7A7348E0}"/>
              </a:ext>
            </a:extLst>
          </p:cNvPr>
          <p:cNvSpPr txBox="1"/>
          <p:nvPr/>
        </p:nvSpPr>
        <p:spPr>
          <a:xfrm>
            <a:off x="9591" y="10587612"/>
            <a:ext cx="166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Additional File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B0EE8C-443D-4EA7-9C0E-D8E9FAA85434}"/>
              </a:ext>
            </a:extLst>
          </p:cNvPr>
          <p:cNvSpPr txBox="1"/>
          <p:nvPr/>
        </p:nvSpPr>
        <p:spPr>
          <a:xfrm>
            <a:off x="1670050" y="10706337"/>
            <a:ext cx="346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Vendor list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FD6C7E-0DEC-7F45-24BB-650ED976E026}"/>
              </a:ext>
            </a:extLst>
          </p:cNvPr>
          <p:cNvSpPr txBox="1"/>
          <p:nvPr/>
        </p:nvSpPr>
        <p:spPr>
          <a:xfrm>
            <a:off x="3118882" y="10686631"/>
            <a:ext cx="159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Approval list </a:t>
            </a:r>
          </a:p>
        </p:txBody>
      </p:sp>
      <p:pic>
        <p:nvPicPr>
          <p:cNvPr id="55" name="Graphic 54" descr="Paperclip with solid fill">
            <a:extLst>
              <a:ext uri="{FF2B5EF4-FFF2-40B4-BE49-F238E27FC236}">
                <a16:creationId xmlns:a16="http://schemas.microsoft.com/office/drawing/2014/main" id="{5B4F8D9F-BF33-D7BC-6A53-39E6A5C5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9423" y="10648674"/>
            <a:ext cx="420008" cy="42000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6E5FF5D-090E-5CCC-D166-01525BC56072}"/>
              </a:ext>
            </a:extLst>
          </p:cNvPr>
          <p:cNvSpPr txBox="1"/>
          <p:nvPr/>
        </p:nvSpPr>
        <p:spPr>
          <a:xfrm>
            <a:off x="7219431" y="10675529"/>
            <a:ext cx="159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Spec sheet </a:t>
            </a:r>
          </a:p>
        </p:txBody>
      </p:sp>
    </p:spTree>
    <p:extLst>
      <p:ext uri="{BB962C8B-B14F-4D97-AF65-F5344CB8AC3E}">
        <p14:creationId xmlns:p14="http://schemas.microsoft.com/office/powerpoint/2010/main" val="328778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1889</TotalTime>
  <Words>304</Words>
  <Application>Microsoft Office PowerPoint</Application>
  <PresentationFormat>Custom</PresentationFormat>
  <Paragraphs>113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s</dc:creator>
  <cp:lastModifiedBy>Harsha s</cp:lastModifiedBy>
  <cp:revision>1</cp:revision>
  <dcterms:created xsi:type="dcterms:W3CDTF">2026-06-14T09:48:44Z</dcterms:created>
  <dcterms:modified xsi:type="dcterms:W3CDTF">2026-06-15T17:18:20Z</dcterms:modified>
</cp:coreProperties>
</file>